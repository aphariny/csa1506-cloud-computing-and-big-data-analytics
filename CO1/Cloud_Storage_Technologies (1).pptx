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04A707D-AD86-9234-1013-C6E090638506}">
          <p14:sldIdLst>
            <p14:sldId id="256"/>
          </p14:sldIdLst>
        </p14:section>
        <p14:section name="Foundations" id="{45B94660-81DF-C7E1-BF36-1712D08A24BE}">
          <p14:sldIdLst>
            <p14:sldId id="257"/>
            <p14:sldId id="258"/>
          </p14:sldIdLst>
        </p14:section>
        <p14:section name="Storage types" id="{A71F88A8-329A-9AC6-AA8B-FA2D4CD05C94}">
          <p14:sldIdLst>
            <p14:sldId id="259"/>
            <p14:sldId id="260"/>
            <p14:sldId id="261"/>
          </p14:sldIdLst>
        </p14:section>
        <p14:section name="Compare" id="{ECD82C13-63B9-0007-D0AC-F2F126128328}">
          <p14:sldIdLst>
            <p14:sldId id="262"/>
          </p14:sldIdLst>
        </p14:section>
        <p14:section name="Apply" id="{CF5CF4B6-38D1-0A07-93A0-4C7317AC83C5}">
          <p14:sldIdLst>
            <p14:sldId id="263"/>
            <p14:sldId id="264"/>
          </p14:sldIdLst>
        </p14:section>
        <p14:section name="Wrap up" id="{CF82893B-84F1-E6E3-389F-D2440666AB3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55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three ways the cloud stores data and when to use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cloud storage in your own words, mention that providers manage the infrastructure, then name the three major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benefits. End with the hook question to set up the three storage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 storage: flat buckets, each object has data + metadata + ID. Great for media, backups, and data lakes.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storage: like a raw hard drive attached to a server. Best for databases and VM disks.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storage: folders and paths, shared over the network. Good for team shares.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row by row. Emphasize the takeaway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example per type, then adoption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decision guide: ask the question, get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conclusions, three trends, one final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56692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8328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FE3F0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B2545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Cloud Storage Technologies: Object, Block, and File Storage Compared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F0"/>
                </a:solidFill>
              </a:rPr>
              <a:t>Architectures, use cases, and industry adoption patterns</a:t>
            </a:r>
            <a:endParaRPr lang="en-US" sz="1800" dirty="0"/>
          </a:p>
        </p:txBody>
      </p:sp>
      <p:sp>
        <p:nvSpPr>
          <p:cNvPr id="4" name="Type circle Object"/>
          <p:cNvSpPr/>
          <p:nvPr/>
        </p:nvSpPr>
        <p:spPr>
          <a:xfrm>
            <a:off x="6949440" y="8229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Object</a:t>
            </a:r>
            <a:endParaRPr lang="en-US" sz="2000" dirty="0"/>
          </a:p>
        </p:txBody>
      </p:sp>
      <p:sp>
        <p:nvSpPr>
          <p:cNvPr id="5" name="Type circle Block"/>
          <p:cNvSpPr/>
          <p:nvPr/>
        </p:nvSpPr>
        <p:spPr>
          <a:xfrm>
            <a:off x="6949440" y="2194560"/>
            <a:ext cx="1188720" cy="11887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Block</a:t>
            </a:r>
            <a:endParaRPr lang="en-US" sz="2000" dirty="0"/>
          </a:p>
        </p:txBody>
      </p:sp>
      <p:sp>
        <p:nvSpPr>
          <p:cNvPr id="6" name="Type circle File"/>
          <p:cNvSpPr/>
          <p:nvPr/>
        </p:nvSpPr>
        <p:spPr>
          <a:xfrm>
            <a:off x="6949440" y="356616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</a:rPr>
              <a:t>File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What is cloud storage?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Cloud storage stores data on remote servers that you access through a network, usually the internet.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Users and apps can store, retrieve, manage, and back up data without relying only on local devices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 providers manage the underlying infrastructure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access storage through services and interfaces, such as consoles and APIs</a:t>
            </a:r>
            <a:endParaRPr lang="en-US" sz="1400" dirty="0"/>
          </a:p>
        </p:txBody>
      </p:sp>
      <p:sp>
        <p:nvSpPr>
          <p:cNvPr id="6" name="Flow diagram card"/>
          <p:cNvSpPr/>
          <p:nvPr/>
        </p:nvSpPr>
        <p:spPr>
          <a:xfrm>
            <a:off x="5577840" y="1143000"/>
            <a:ext cx="310896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7" name="Flow user"/>
          <p:cNvSpPr/>
          <p:nvPr/>
        </p:nvSpPr>
        <p:spPr>
          <a:xfrm>
            <a:off x="5852160" y="1325880"/>
            <a:ext cx="256032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You / your application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↓  over the internet</a:t>
            </a:r>
            <a:endParaRPr lang="en-US" sz="1200" dirty="0"/>
          </a:p>
        </p:txBody>
      </p:sp>
      <p:sp>
        <p:nvSpPr>
          <p:cNvPr id="9" name="Flow cloud"/>
          <p:cNvSpPr/>
          <p:nvPr/>
        </p:nvSpPr>
        <p:spPr>
          <a:xfrm>
            <a:off x="5852160" y="2286000"/>
            <a:ext cx="256032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Cloud servers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Infrastructure run by the provider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Major providers</a:t>
            </a:r>
            <a:endParaRPr lang="en-US" sz="1600" dirty="0"/>
          </a:p>
        </p:txBody>
      </p:sp>
      <p:sp>
        <p:nvSpPr>
          <p:cNvPr id="12" name="Provider Amazon Web Services (AWS)"/>
          <p:cNvSpPr/>
          <p:nvPr/>
        </p:nvSpPr>
        <p:spPr>
          <a:xfrm>
            <a:off x="457200" y="4114800"/>
            <a:ext cx="265176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Amazon Web Services (AWS)</a:t>
            </a:r>
            <a:endParaRPr lang="en-US" sz="1500" dirty="0"/>
          </a:p>
        </p:txBody>
      </p:sp>
      <p:sp>
        <p:nvSpPr>
          <p:cNvPr id="13" name="Provider Microsoft Azure"/>
          <p:cNvSpPr/>
          <p:nvPr/>
        </p:nvSpPr>
        <p:spPr>
          <a:xfrm>
            <a:off x="3246120" y="4114800"/>
            <a:ext cx="265176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Microsoft Azure</a:t>
            </a:r>
            <a:endParaRPr lang="en-US" sz="1500" dirty="0"/>
          </a:p>
        </p:txBody>
      </p:sp>
      <p:sp>
        <p:nvSpPr>
          <p:cNvPr id="14" name="Provider Google Cloud"/>
          <p:cNvSpPr/>
          <p:nvPr/>
        </p:nvSpPr>
        <p:spPr>
          <a:xfrm>
            <a:off x="6035040" y="4114800"/>
            <a:ext cx="265176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Google Cloud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Why is cloud storage important?</a:t>
            </a:r>
            <a:endParaRPr lang="en-US" sz="3000" dirty="0"/>
          </a:p>
        </p:txBody>
      </p:sp>
      <p:sp>
        <p:nvSpPr>
          <p:cNvPr id="4" name="Benefit card Scalability"/>
          <p:cNvSpPr/>
          <p:nvPr/>
        </p:nvSpPr>
        <p:spPr>
          <a:xfrm>
            <a:off x="457200" y="118872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Scalability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Storage capacity grows with demand</a:t>
            </a:r>
            <a:endParaRPr lang="en-US" sz="1400" dirty="0"/>
          </a:p>
        </p:txBody>
      </p:sp>
      <p:sp>
        <p:nvSpPr>
          <p:cNvPr id="8" name="Benefit card Accessibility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Accessibility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Data can be reached from different locations</a:t>
            </a:r>
            <a:endParaRPr lang="en-US" sz="1400" dirty="0"/>
          </a:p>
        </p:txBody>
      </p:sp>
      <p:sp>
        <p:nvSpPr>
          <p:cNvPr id="12" name="Benefit card Reliability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487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Reliability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Providers offer durability and availability mechanisms</a:t>
            </a:r>
            <a:endParaRPr lang="en-US" sz="1400" dirty="0"/>
          </a:p>
        </p:txBody>
      </p:sp>
      <p:sp>
        <p:nvSpPr>
          <p:cNvPr id="16" name="Benefit card Cost efficiency"/>
          <p:cNvSpPr/>
          <p:nvPr/>
        </p:nvSpPr>
        <p:spPr>
          <a:xfrm>
            <a:off x="4663440" y="237744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2487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Cost efficiency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Resources are provisioned to match workload needs</a:t>
            </a:r>
            <a:endParaRPr lang="en-US" sz="1400" dirty="0"/>
          </a:p>
        </p:txBody>
      </p:sp>
      <p:sp>
        <p:nvSpPr>
          <p:cNvPr id="20" name="Hook callout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/>
                </a:solidFill>
              </a:rPr>
              <a:t>Why does Netflix store videos differently from how a bank stores transactions?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Object storage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</a:rPr>
              <a:t>Stores data as individual objects, each holding the data, its metadata, and a unique ID.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Objects live in flat containers called buckets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Retrieved by unique key through HTTP APIs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Rich metadata describes and organizes content</a:t>
            </a:r>
            <a:endParaRPr lang="en-US" sz="1400" dirty="0"/>
          </a:p>
        </p:txBody>
      </p:sp>
      <p:sp>
        <p:nvSpPr>
          <p:cNvPr id="7" name="Diagram card"/>
          <p:cNvSpPr/>
          <p:nvPr/>
        </p:nvSpPr>
        <p:spPr>
          <a:xfrm>
            <a:off x="5486400" y="1143000"/>
            <a:ext cx="320040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8" name="Bucket"/>
          <p:cNvSpPr/>
          <p:nvPr/>
        </p:nvSpPr>
        <p:spPr>
          <a:xfrm>
            <a:off x="5715000" y="1280160"/>
            <a:ext cx="274320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1325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Bucket</a:t>
            </a:r>
            <a:endParaRPr lang="en-US" sz="1100" dirty="0"/>
          </a:p>
        </p:txBody>
      </p:sp>
      <p:sp>
        <p:nvSpPr>
          <p:cNvPr id="10" name="Object 1"/>
          <p:cNvSpPr/>
          <p:nvPr/>
        </p:nvSpPr>
        <p:spPr>
          <a:xfrm>
            <a:off x="5943600" y="1645920"/>
            <a:ext cx="6400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ID-1</a:t>
            </a:r>
            <a:endParaRPr lang="en-US" sz="1100" dirty="0"/>
          </a:p>
        </p:txBody>
      </p:sp>
      <p:sp>
        <p:nvSpPr>
          <p:cNvPr id="11" name="Object 2"/>
          <p:cNvSpPr/>
          <p:nvPr/>
        </p:nvSpPr>
        <p:spPr>
          <a:xfrm>
            <a:off x="6720840" y="1645920"/>
            <a:ext cx="6400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ID-2</a:t>
            </a:r>
            <a:endParaRPr lang="en-US" sz="1100" dirty="0"/>
          </a:p>
        </p:txBody>
      </p:sp>
      <p:sp>
        <p:nvSpPr>
          <p:cNvPr id="12" name="Object 3"/>
          <p:cNvSpPr/>
          <p:nvPr/>
        </p:nvSpPr>
        <p:spPr>
          <a:xfrm>
            <a:off x="7498080" y="1645920"/>
            <a:ext cx="6400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ID-3</a:t>
            </a:r>
            <a:endParaRPr lang="en-US" sz="1100" dirty="0"/>
          </a:p>
        </p:txBody>
      </p:sp>
      <p:sp>
        <p:nvSpPr>
          <p:cNvPr id="13" name="Object 4"/>
          <p:cNvSpPr/>
          <p:nvPr/>
        </p:nvSpPr>
        <p:spPr>
          <a:xfrm>
            <a:off x="5943600" y="2194560"/>
            <a:ext cx="6400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ID-4</a:t>
            </a:r>
            <a:endParaRPr lang="en-US" sz="1100" dirty="0"/>
          </a:p>
        </p:txBody>
      </p:sp>
      <p:sp>
        <p:nvSpPr>
          <p:cNvPr id="14" name="Object 5"/>
          <p:cNvSpPr/>
          <p:nvPr/>
        </p:nvSpPr>
        <p:spPr>
          <a:xfrm>
            <a:off x="6720840" y="2194560"/>
            <a:ext cx="6400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ID-5</a:t>
            </a:r>
            <a:endParaRPr lang="en-US" sz="1100" dirty="0"/>
          </a:p>
        </p:txBody>
      </p:sp>
      <p:sp>
        <p:nvSpPr>
          <p:cNvPr id="15" name="Object 6"/>
          <p:cNvSpPr/>
          <p:nvPr/>
        </p:nvSpPr>
        <p:spPr>
          <a:xfrm>
            <a:off x="7498080" y="2194560"/>
            <a:ext cx="6400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ID-6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Like a locker service: drop an item in, get a ticket (the ID).</a:t>
            </a:r>
            <a:endParaRPr lang="en-US" sz="1200" dirty="0"/>
          </a:p>
        </p:txBody>
      </p:sp>
      <p:sp>
        <p:nvSpPr>
          <p:cNvPr id="17" name="Use cases card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 cases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Images and video, backups and archives, data lakes</a:t>
            </a:r>
            <a:endParaRPr lang="en-US" sz="1400" dirty="0"/>
          </a:p>
        </p:txBody>
      </p:sp>
      <p:sp>
        <p:nvSpPr>
          <p:cNvPr id="20" name="Examples card"/>
          <p:cNvSpPr/>
          <p:nvPr/>
        </p:nvSpPr>
        <p:spPr>
          <a:xfrm>
            <a:off x="466344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Examples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Amazon S3, Azure Blob Storage, Google Cloud Storage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Block storage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</a:rPr>
              <a:t>Divides data into fixed-size blocks, each stored and addressed separately.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Blocks are reached through logical addresses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OS or app builds a file system on top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 random reads and writes with low latency</a:t>
            </a:r>
            <a:endParaRPr lang="en-US" sz="1400" dirty="0"/>
          </a:p>
        </p:txBody>
      </p:sp>
      <p:sp>
        <p:nvSpPr>
          <p:cNvPr id="7" name="Diagram card"/>
          <p:cNvSpPr/>
          <p:nvPr/>
        </p:nvSpPr>
        <p:spPr>
          <a:xfrm>
            <a:off x="5486400" y="1143000"/>
            <a:ext cx="320040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8" name="Block 0"/>
          <p:cNvSpPr/>
          <p:nvPr/>
        </p:nvSpPr>
        <p:spPr>
          <a:xfrm>
            <a:off x="5852160" y="1463040"/>
            <a:ext cx="54864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B0</a:t>
            </a:r>
            <a:endParaRPr lang="en-US" sz="1400" dirty="0"/>
          </a:p>
        </p:txBody>
      </p:sp>
      <p:sp>
        <p:nvSpPr>
          <p:cNvPr id="9" name="Block 1"/>
          <p:cNvSpPr/>
          <p:nvPr/>
        </p:nvSpPr>
        <p:spPr>
          <a:xfrm>
            <a:off x="6510528" y="1463040"/>
            <a:ext cx="54864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B1</a:t>
            </a:r>
            <a:endParaRPr lang="en-US" sz="1400" dirty="0"/>
          </a:p>
        </p:txBody>
      </p:sp>
      <p:sp>
        <p:nvSpPr>
          <p:cNvPr id="10" name="Block 2"/>
          <p:cNvSpPr/>
          <p:nvPr/>
        </p:nvSpPr>
        <p:spPr>
          <a:xfrm>
            <a:off x="7168896" y="1463040"/>
            <a:ext cx="54864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B2</a:t>
            </a:r>
            <a:endParaRPr lang="en-US" sz="1400" dirty="0"/>
          </a:p>
        </p:txBody>
      </p:sp>
      <p:sp>
        <p:nvSpPr>
          <p:cNvPr id="11" name="Block 3"/>
          <p:cNvSpPr/>
          <p:nvPr/>
        </p:nvSpPr>
        <p:spPr>
          <a:xfrm>
            <a:off x="7827264" y="1463040"/>
            <a:ext cx="54864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B3</a:t>
            </a:r>
            <a:endParaRPr lang="en-US" sz="1400" dirty="0"/>
          </a:p>
        </p:txBody>
      </p:sp>
      <p:sp>
        <p:nvSpPr>
          <p:cNvPr id="12" name="Block 4"/>
          <p:cNvSpPr/>
          <p:nvPr/>
        </p:nvSpPr>
        <p:spPr>
          <a:xfrm>
            <a:off x="5852160" y="2103120"/>
            <a:ext cx="54864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B4</a:t>
            </a:r>
            <a:endParaRPr lang="en-US" sz="1400" dirty="0"/>
          </a:p>
        </p:txBody>
      </p:sp>
      <p:sp>
        <p:nvSpPr>
          <p:cNvPr id="13" name="Block 5"/>
          <p:cNvSpPr/>
          <p:nvPr/>
        </p:nvSpPr>
        <p:spPr>
          <a:xfrm>
            <a:off x="6510528" y="2103120"/>
            <a:ext cx="54864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B5</a:t>
            </a:r>
            <a:endParaRPr lang="en-US" sz="1400" dirty="0"/>
          </a:p>
        </p:txBody>
      </p:sp>
      <p:sp>
        <p:nvSpPr>
          <p:cNvPr id="14" name="Block 6"/>
          <p:cNvSpPr/>
          <p:nvPr/>
        </p:nvSpPr>
        <p:spPr>
          <a:xfrm>
            <a:off x="7168896" y="2103120"/>
            <a:ext cx="54864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B6</a:t>
            </a:r>
            <a:endParaRPr lang="en-US" sz="1400" dirty="0"/>
          </a:p>
        </p:txBody>
      </p:sp>
      <p:sp>
        <p:nvSpPr>
          <p:cNvPr id="15" name="Block 7"/>
          <p:cNvSpPr/>
          <p:nvPr/>
        </p:nvSpPr>
        <p:spPr>
          <a:xfrm>
            <a:off x="7827264" y="2103120"/>
            <a:ext cx="54864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B7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Like raw warehouse shelves: fast, but you organize them yourself.</a:t>
            </a:r>
            <a:endParaRPr lang="en-US" sz="1200" dirty="0"/>
          </a:p>
        </p:txBody>
      </p:sp>
      <p:sp>
        <p:nvSpPr>
          <p:cNvPr id="17" name="Use cases card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 cases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Databases, virtual machine disks, transaction systems</a:t>
            </a:r>
            <a:endParaRPr lang="en-US" sz="1400" dirty="0"/>
          </a:p>
        </p:txBody>
      </p:sp>
      <p:sp>
        <p:nvSpPr>
          <p:cNvPr id="20" name="Examples card"/>
          <p:cNvSpPr/>
          <p:nvPr/>
        </p:nvSpPr>
        <p:spPr>
          <a:xfrm>
            <a:off x="466344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Examples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Amazon EBS, Azure Managed Disks, Google Persistent Disk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File storage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</a:rPr>
              <a:t>Organizes data as files in a hierarchy of folders and subfolders.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Accessed by path through NFS or SMB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Supports sharing and access permissions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Familiar for apps that need a file system</a:t>
            </a:r>
            <a:endParaRPr lang="en-US" sz="1400" dirty="0"/>
          </a:p>
        </p:txBody>
      </p:sp>
      <p:sp>
        <p:nvSpPr>
          <p:cNvPr id="7" name="Diagram card"/>
          <p:cNvSpPr/>
          <p:nvPr/>
        </p:nvSpPr>
        <p:spPr>
          <a:xfrm>
            <a:off x="5486400" y="1143000"/>
            <a:ext cx="320040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8" name="Root folder"/>
          <p:cNvSpPr/>
          <p:nvPr/>
        </p:nvSpPr>
        <p:spPr>
          <a:xfrm>
            <a:off x="5852160" y="1325880"/>
            <a:ext cx="146304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/team</a:t>
            </a:r>
            <a:endParaRPr lang="en-US" sz="1300" dirty="0"/>
          </a:p>
        </p:txBody>
      </p:sp>
      <p:sp>
        <p:nvSpPr>
          <p:cNvPr id="9" name="Folder reports"/>
          <p:cNvSpPr/>
          <p:nvPr/>
        </p:nvSpPr>
        <p:spPr>
          <a:xfrm>
            <a:off x="6217920" y="1783080"/>
            <a:ext cx="13716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reports</a:t>
            </a:r>
            <a:endParaRPr lang="en-US" sz="1300" dirty="0"/>
          </a:p>
        </p:txBody>
      </p:sp>
      <p:sp>
        <p:nvSpPr>
          <p:cNvPr id="10" name="Folder designs"/>
          <p:cNvSpPr/>
          <p:nvPr/>
        </p:nvSpPr>
        <p:spPr>
          <a:xfrm>
            <a:off x="6217920" y="2286000"/>
            <a:ext cx="13716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designs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26680" y="1783080"/>
            <a:ext cx="82296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q3.pdf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2286000"/>
            <a:ext cx="82296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logo.png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Like a shared filing cabinet with labeled folders.</a:t>
            </a:r>
            <a:endParaRPr lang="en-US" sz="1200" dirty="0"/>
          </a:p>
        </p:txBody>
      </p:sp>
      <p:sp>
        <p:nvSpPr>
          <p:cNvPr id="14" name="Use cases card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 cases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Shared team folders, content management, file servers</a:t>
            </a:r>
            <a:endParaRPr lang="en-US" sz="1400" dirty="0"/>
          </a:p>
        </p:txBody>
      </p:sp>
      <p:sp>
        <p:nvSpPr>
          <p:cNvPr id="17" name="Examples card"/>
          <p:cNvSpPr/>
          <p:nvPr/>
        </p:nvSpPr>
        <p:spPr>
          <a:xfrm>
            <a:off x="466344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Examples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Amazon EFS, Azure Files, Google Filestore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49095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Comparison at a glance</a:t>
            </a:r>
            <a:endParaRPr lang="en-US" sz="30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033577"/>
              </p:ext>
            </p:extLst>
          </p:nvPr>
        </p:nvGraphicFramePr>
        <p:xfrm>
          <a:off x="457200" y="1299078"/>
          <a:ext cx="8229600" cy="24505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Object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Block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File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Organization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Objects in flat buckets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Fixed-size blocks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Files in folders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Access method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HTTP APIs, object keys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Block addresses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File paths (NFS/SMB)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High throughput, higher latency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Lowest latency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Moderate, shared access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Scalability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Virtually unlimited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Per volume, size limits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Scales well; shared load can bottleneck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Unstructured data at scale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Databases, VM disks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Shared folders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Key takeaway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No single type is best for every workload. Choose by access pattern, performance, scale, and cost.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Real-world use cases</a:t>
            </a:r>
            <a:endParaRPr lang="en-US" sz="3000" dirty="0"/>
          </a:p>
        </p:txBody>
      </p:sp>
      <p:sp>
        <p:nvSpPr>
          <p:cNvPr id="4" name="Use case Video streaming"/>
          <p:cNvSpPr/>
          <p:nvPr/>
        </p:nvSpPr>
        <p:spPr>
          <a:xfrm>
            <a:off x="457200" y="1143000"/>
            <a:ext cx="2560320" cy="2148840"/>
          </a:xfrm>
          <a:prstGeom prst="roundRect">
            <a:avLst>
              <a:gd name="adj" fmla="val 4255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Video streaming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Object storage holds videos, thumbnails, and media assets served through content delivery networks.</a:t>
            </a:r>
            <a:endParaRPr lang="en-US" sz="1400" dirty="0"/>
          </a:p>
        </p:txBody>
      </p:sp>
      <p:sp>
        <p:nvSpPr>
          <p:cNvPr id="7" name="Use case Banking systems"/>
          <p:cNvSpPr/>
          <p:nvPr/>
        </p:nvSpPr>
        <p:spPr>
          <a:xfrm>
            <a:off x="3291840" y="1143000"/>
            <a:ext cx="2560320" cy="2148840"/>
          </a:xfrm>
          <a:prstGeom prst="roundRect">
            <a:avLst>
              <a:gd name="adj" fmla="val 4255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7472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Banking systems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Block storage backs databases that need fast random reads and writes with predictable latency.</a:t>
            </a:r>
            <a:endParaRPr lang="en-US" sz="1400" dirty="0"/>
          </a:p>
        </p:txBody>
      </p:sp>
      <p:sp>
        <p:nvSpPr>
          <p:cNvPr id="10" name="Use case Team collaboration"/>
          <p:cNvSpPr/>
          <p:nvPr/>
        </p:nvSpPr>
        <p:spPr>
          <a:xfrm>
            <a:off x="6126480" y="1143000"/>
            <a:ext cx="2560320" cy="2148840"/>
          </a:xfrm>
          <a:prstGeom prst="roundRect">
            <a:avLst>
              <a:gd name="adj" fmla="val 4255"/>
            </a:avLst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Team collaboration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File storage lets teams share documents, reports, and project files in common folders.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Adoption patterns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Object: growing fastest for backups, analytics, AI datasets, and media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Block: the standard for databases and VM workloads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File: widely used wherever apps need shared directories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Which one should you choose?</a:t>
            </a:r>
            <a:endParaRPr lang="en-US" sz="3000" dirty="0"/>
          </a:p>
        </p:txBody>
      </p:sp>
      <p:sp>
        <p:nvSpPr>
          <p:cNvPr id="4" name="Decision row Block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Running a database or VM disk?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417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Answer Block"/>
          <p:cNvSpPr/>
          <p:nvPr/>
        </p:nvSpPr>
        <p:spPr>
          <a:xfrm>
            <a:off x="6583680" y="1371600"/>
            <a:ext cx="1828800" cy="594360"/>
          </a:xfrm>
          <a:prstGeom prst="roundRect">
            <a:avLst>
              <a:gd name="adj" fmla="val 4615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Block</a:t>
            </a:r>
            <a:endParaRPr lang="en-US" sz="2000" dirty="0"/>
          </a:p>
        </p:txBody>
      </p:sp>
      <p:sp>
        <p:nvSpPr>
          <p:cNvPr id="8" name="Decision row File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Need shared folders for a team?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560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Answer File"/>
          <p:cNvSpPr/>
          <p:nvPr/>
        </p:nvSpPr>
        <p:spPr>
          <a:xfrm>
            <a:off x="6583680" y="2514600"/>
            <a:ext cx="1828800" cy="594360"/>
          </a:xfrm>
          <a:prstGeom prst="roundRect">
            <a:avLst>
              <a:gd name="adj" fmla="val 4615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File</a:t>
            </a:r>
            <a:endParaRPr lang="en-US" sz="2000" dirty="0"/>
          </a:p>
        </p:txBody>
      </p:sp>
      <p:sp>
        <p:nvSpPr>
          <p:cNvPr id="12" name="Decision row Object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3749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Storing massive, cheap data through an API?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Answer Object"/>
          <p:cNvSpPr/>
          <p:nvPr/>
        </p:nvSpPr>
        <p:spPr>
          <a:xfrm>
            <a:off x="6583680" y="3657600"/>
            <a:ext cx="1828800" cy="594360"/>
          </a:xfrm>
          <a:prstGeom prst="roundRect">
            <a:avLst>
              <a:gd name="adj" fmla="val 4615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Object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Conclusion and future trends</a:t>
            </a:r>
            <a:endParaRPr lang="en-US" sz="3000" dirty="0"/>
          </a:p>
        </p:txBody>
      </p:sp>
      <p:sp>
        <p:nvSpPr>
          <p:cNvPr id="4" name="Conclusions card"/>
          <p:cNvSpPr/>
          <p:nvPr/>
        </p:nvSpPr>
        <p:spPr>
          <a:xfrm>
            <a:off x="457200" y="114300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Conclusions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Object: scale and rich metadata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Block: fast, direct access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File: shared, hierarchical access</a:t>
            </a:r>
            <a:endParaRPr lang="en-US" sz="1600" dirty="0"/>
          </a:p>
        </p:txBody>
      </p:sp>
      <p:sp>
        <p:nvSpPr>
          <p:cNvPr id="7" name="Future trends card"/>
          <p:cNvSpPr/>
          <p:nvPr/>
        </p:nvSpPr>
        <p:spPr>
          <a:xfrm>
            <a:off x="4663440" y="114300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Future trends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783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AI-driven storage optimization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Stronger security and encryption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Hybrid and multi-cloud storage</a:t>
            </a:r>
            <a:endParaRPr lang="en-US" sz="1600" dirty="0"/>
          </a:p>
        </p:txBody>
      </p:sp>
      <p:sp>
        <p:nvSpPr>
          <p:cNvPr id="10" name="Final takeaway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2540" tIns="2540" rIns="2540" bIns="254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Understanding storage architectures helps engineers design efficient, scalable, and reliable cloud applications.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Storage">
  <a:themeElements>
    <a:clrScheme name="CloudStorage">
      <a:dk1>
        <a:srgbClr val="0B2545"/>
      </a:dk1>
      <a:lt1>
        <a:srgbClr val="FFFFFF"/>
      </a:lt1>
      <a:dk2>
        <a:srgbClr val="13315C"/>
      </a:dk2>
      <a:lt2>
        <a:srgbClr val="EEF4F8"/>
      </a:lt2>
      <a:accent1>
        <a:srgbClr val="0E8C83"/>
      </a:accent1>
      <a:accent2>
        <a:srgbClr val="F2A541"/>
      </a:accent2>
      <a:accent3>
        <a:srgbClr val="3B6FD4"/>
      </a:accent3>
      <a:accent4>
        <a:srgbClr val="8D99AE"/>
      </a:accent4>
      <a:accent5>
        <a:srgbClr val="E4572E"/>
      </a:accent5>
      <a:accent6>
        <a:srgbClr val="2A9D8F"/>
      </a:accent6>
      <a:hlink>
        <a:srgbClr val="3B6FD4"/>
      </a:hlink>
      <a:folHlink>
        <a:srgbClr val="8D99AE"/>
      </a:folHlink>
    </a:clrScheme>
    <a:fontScheme name="CloudStor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857</Words>
  <Application>Microsoft Office PowerPoint</Application>
  <PresentationFormat>On-screen Show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CloudStorage</vt:lpstr>
      <vt:lpstr>Cloud Storage Technologies: Object, Block, and File Storage Compared</vt:lpstr>
      <vt:lpstr>What is cloud storage?</vt:lpstr>
      <vt:lpstr>Why is cloud storage important?</vt:lpstr>
      <vt:lpstr>Object storage</vt:lpstr>
      <vt:lpstr>Block storage</vt:lpstr>
      <vt:lpstr>File storage</vt:lpstr>
      <vt:lpstr>Comparison at a glance</vt:lpstr>
      <vt:lpstr>Real-world use cases</vt:lpstr>
      <vt:lpstr>Which one should you choose?</vt:lpstr>
      <vt:lpstr>Conclusion and future trends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Storage Technologies</dc:title>
  <dc:subject>PptxGenJS Presentation</dc:subject>
  <dc:creator>PptxGenJS</dc:creator>
  <cp:lastModifiedBy>Hariny AP</cp:lastModifiedBy>
  <cp:revision>4</cp:revision>
  <dcterms:created xsi:type="dcterms:W3CDTF">2026-10-21T16:24:00Z</dcterms:created>
  <dcterms:modified xsi:type="dcterms:W3CDTF">2026-10-22T06:46:28Z</dcterms:modified>
</cp:coreProperties>
</file>